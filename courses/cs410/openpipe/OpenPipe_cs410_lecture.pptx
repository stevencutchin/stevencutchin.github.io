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2"/>
  </p:notesMasterIdLst>
  <p:sldIdLst>
    <p:sldId id="263" r:id="rId2"/>
    <p:sldId id="310" r:id="rId3"/>
    <p:sldId id="328" r:id="rId4"/>
    <p:sldId id="333" r:id="rId5"/>
    <p:sldId id="334" r:id="rId6"/>
    <p:sldId id="331" r:id="rId7"/>
    <p:sldId id="330" r:id="rId8"/>
    <p:sldId id="311" r:id="rId9"/>
    <p:sldId id="314" r:id="rId10"/>
    <p:sldId id="313" r:id="rId11"/>
    <p:sldId id="321" r:id="rId12"/>
    <p:sldId id="335" r:id="rId13"/>
    <p:sldId id="376" r:id="rId14"/>
    <p:sldId id="347" r:id="rId15"/>
    <p:sldId id="260" r:id="rId16"/>
    <p:sldId id="364" r:id="rId17"/>
    <p:sldId id="317" r:id="rId18"/>
    <p:sldId id="318" r:id="rId19"/>
    <p:sldId id="316" r:id="rId20"/>
    <p:sldId id="319" r:id="rId21"/>
    <p:sldId id="352" r:id="rId22"/>
    <p:sldId id="348" r:id="rId23"/>
    <p:sldId id="358" r:id="rId24"/>
    <p:sldId id="359" r:id="rId25"/>
    <p:sldId id="360" r:id="rId26"/>
    <p:sldId id="372" r:id="rId27"/>
    <p:sldId id="354" r:id="rId28"/>
    <p:sldId id="365" r:id="rId29"/>
    <p:sldId id="366" r:id="rId30"/>
    <p:sldId id="353" r:id="rId31"/>
    <p:sldId id="361" r:id="rId32"/>
    <p:sldId id="351" r:id="rId33"/>
    <p:sldId id="373" r:id="rId34"/>
    <p:sldId id="374" r:id="rId35"/>
    <p:sldId id="375" r:id="rId36"/>
    <p:sldId id="355" r:id="rId37"/>
    <p:sldId id="377" r:id="rId38"/>
    <p:sldId id="342" r:id="rId39"/>
    <p:sldId id="341" r:id="rId40"/>
    <p:sldId id="346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398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32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opportunity for the general community, especially children, to see places that it would be very difficult for them to see in person.</a:t>
            </a:r>
          </a:p>
          <a:p>
            <a:r>
              <a:rPr lang="en-US" dirty="0"/>
              <a:t>Wanted them to have an exposure to a world of quality art beyond their neighborhood.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487E-518C-43F7-A8EE-728BE395642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71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installation: an active touch screen environment that supports many sized groups to explore, interact, and share a variety of quality art experiences from theater and music to the visual 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487E-518C-43F7-A8EE-728BE395642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24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and critique works</a:t>
            </a:r>
          </a:p>
          <a:p>
            <a:r>
              <a:rPr lang="en-US" dirty="0"/>
              <a:t>Collect and create a history of students works -&gt; all kinds.</a:t>
            </a:r>
          </a:p>
          <a:p>
            <a:r>
              <a:rPr lang="en-US" dirty="0"/>
              <a:t>Performances, Interactive experiments, single user, multi-user, groups.</a:t>
            </a:r>
          </a:p>
          <a:p>
            <a:r>
              <a:rPr lang="en-US" dirty="0"/>
              <a:t>Review</a:t>
            </a:r>
          </a:p>
          <a:p>
            <a:r>
              <a:rPr lang="en-US" dirty="0"/>
              <a:t>Collaborative performances across the network between remote locations potentially.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487E-518C-43F7-A8EE-728BE395642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67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4d430116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64d430116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4dcb1e3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64dcb1e3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455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16K 128 Megapixel Per Eye with web based streaming solutions to </a:t>
            </a:r>
            <a:r>
              <a:rPr lang="en-US" dirty="0" err="1"/>
              <a:t>powerwalls</a:t>
            </a:r>
            <a:r>
              <a:rPr lang="en-US" dirty="0"/>
              <a:t> and head mounted </a:t>
            </a:r>
            <a:r>
              <a:rPr lang="en-US" dirty="0" err="1"/>
              <a:t>cisplays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487E-518C-43F7-A8EE-728BE395642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94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http://cs.boisestate.edu/~scutchin/wmuseum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487E-518C-43F7-A8EE-728BE395642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25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4dcb1e3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64dcb1e3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481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64dcb1e3d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64dcb1e3d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775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4dcb1e3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4dcb1e3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24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92162" name="AutoShape 2" descr="Image result for boise state logo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64" name="AutoShape 4" descr="Image result for boise state logo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66" name="AutoShape 6" descr="https://static.wixstatic.com/media/8763e8_4a3641410ad04bda8dee9ae082f4825a~mv2.png/v1/fill/w_272,h_208,al_c,q_80,usm_0.66_1.00_0.01/8763e8_4a3641410ad04bda8dee9ae082f4825a~mv2.webp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Boise_State_Universitylogo_square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48864" y="0"/>
            <a:ext cx="755374" cy="755374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Today’s Modern Art: The Emergence of Technology and Art at Boise State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00150" y="2914650"/>
            <a:ext cx="4800600" cy="1314450"/>
          </a:xfr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Dr. Steve Cutchin</a:t>
            </a:r>
          </a:p>
          <a:p>
            <a:r>
              <a:rPr lang="en-US" dirty="0">
                <a:solidFill>
                  <a:schemeClr val="tx1"/>
                </a:solidFill>
              </a:rPr>
              <a:t>Associate Professor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</a:t>
            </a:r>
          </a:p>
          <a:p>
            <a:r>
              <a:rPr lang="en-US" dirty="0">
                <a:solidFill>
                  <a:schemeClr val="tx1"/>
                </a:solidFill>
              </a:rPr>
              <a:t>Boise State University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A648F-F597-4D61-B8B2-7B23BA532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0" y="2857500"/>
            <a:ext cx="1428750" cy="1428750"/>
          </a:xfrm>
          <a:prstGeom prst="rect">
            <a:avLst/>
          </a:prstGeom>
        </p:spPr>
      </p:pic>
      <p:sp>
        <p:nvSpPr>
          <p:cNvPr id="77826" name="AutoShape 2" descr="https://static.wixstatic.com/media/8763e8_4a3641410ad04bda8dee9ae082f4825a~mv2.png/v1/fill/w_272,h_208,al_c,q_80,usm_0.66_1.00_0.01/8763e8_4a3641410ad04bda8dee9ae082f4825a~mv2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3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F51B-EAF7-4637-BAB6-762F8912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Original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46C51-CD30-464D-B49A-E1BC3F3D5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1657350"/>
            <a:ext cx="5650148" cy="302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5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2A87-7B4B-48DA-ABD1-C0C74041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Expected Installation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B4A17-C5B4-43A9-AA30-3C6E968257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b="25891"/>
          <a:stretch/>
        </p:blipFill>
        <p:spPr>
          <a:xfrm>
            <a:off x="1241795" y="1560313"/>
            <a:ext cx="6660410" cy="306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27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5F72-DDE2-4518-9E71-A4BE2C00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5405FB-69A0-4C85-97E9-E119BD327E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4" b="13332"/>
          <a:stretch/>
        </p:blipFill>
        <p:spPr>
          <a:xfrm>
            <a:off x="1287556" y="857250"/>
            <a:ext cx="6656294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0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6627-C149-497D-9CD0-2F26FFDB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C7B09-82E3-43DA-AB8A-A52F24580B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13333"/>
          <a:stretch/>
        </p:blipFill>
        <p:spPr>
          <a:xfrm>
            <a:off x="1257301" y="857250"/>
            <a:ext cx="6656294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0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23402-402D-4C6E-8EC4-F041CBBCCC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15556"/>
          <a:stretch/>
        </p:blipFill>
        <p:spPr>
          <a:xfrm>
            <a:off x="1245149" y="914400"/>
            <a:ext cx="665370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0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9C5B-2E3E-41A8-A74A-3C0D48B7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D6D37-D3C0-49D3-B66E-6F0129CAE8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0" b="19720"/>
          <a:stretch/>
        </p:blipFill>
        <p:spPr>
          <a:xfrm>
            <a:off x="1230406" y="857250"/>
            <a:ext cx="6656294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76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DC71-3A16-4F52-A2A2-5B2C6348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School Of 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C4B14-5B30-4C4F-A5D0-D6D8026170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8" b="-1414"/>
          <a:stretch/>
        </p:blipFill>
        <p:spPr>
          <a:xfrm>
            <a:off x="1657350" y="1703895"/>
            <a:ext cx="5600700" cy="300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8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115D-C501-4E36-9DC5-AAA35737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Department of Computer Science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1F302-2FD7-48F6-BC50-61B56FC10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56" y="1885950"/>
            <a:ext cx="607529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76DD-2CD5-44DC-A3B1-311C595F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Games Internet Mobile Media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285EF-F104-4D44-8A0D-9B549E4E3A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57350"/>
            <a:ext cx="4389129" cy="2146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08C92-D35F-4AFA-AA9C-DAD6557B3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000" y="1781358"/>
            <a:ext cx="1385888" cy="1850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932472-FEF3-48C9-A810-BCFA16CD1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356555"/>
            <a:ext cx="2143125" cy="1200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E98536-2688-4A3F-97C8-C6C5DA1C3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420" y="3631589"/>
            <a:ext cx="2664619" cy="9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33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6024-3AAA-4530-BB25-9AB222F7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Community Partners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AFE308-8DD1-4664-8F57-8C26F53B7B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 t="20671" r="11667" b="6666"/>
          <a:stretch/>
        </p:blipFill>
        <p:spPr>
          <a:xfrm>
            <a:off x="1257300" y="1582378"/>
            <a:ext cx="4286250" cy="30467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C283E4-0B2B-4E1D-941C-1B21139D2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574" y="3700018"/>
            <a:ext cx="3228975" cy="92868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50" name="Picture 2" descr="Image result for boise art museum">
            <a:extLst>
              <a:ext uri="{FF2B5EF4-FFF2-40B4-BE49-F238E27FC236}">
                <a16:creationId xmlns:a16="http://schemas.microsoft.com/office/drawing/2014/main" id="{5FEACEA4-2EBC-47C0-874C-6DEA4313E8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6" r="18104"/>
          <a:stretch/>
        </p:blipFill>
        <p:spPr bwMode="auto">
          <a:xfrm>
            <a:off x="5575081" y="1614489"/>
            <a:ext cx="2400300" cy="192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72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8455-0DEC-4121-AA82-8BCF9963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6EEE7-3A8B-4EE2-8F14-658B9963F2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95" t="11852" r="5833" b="9630"/>
          <a:stretch/>
        </p:blipFill>
        <p:spPr>
          <a:xfrm>
            <a:off x="1428750" y="971550"/>
            <a:ext cx="6457950" cy="370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0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C68C-B2DB-4F83-92F2-A10CFC01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 Pipe</a:t>
            </a:r>
          </a:p>
        </p:txBody>
      </p:sp>
      <p:pic>
        <p:nvPicPr>
          <p:cNvPr id="3" name="Picture 2" descr="Prezzi bridge">
            <a:extLst>
              <a:ext uri="{FF2B5EF4-FFF2-40B4-BE49-F238E27FC236}">
                <a16:creationId xmlns:a16="http://schemas.microsoft.com/office/drawing/2014/main" id="{1543598E-6640-418A-84E4-81D880E86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1" y="1167354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97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6BE2-FC22-4BA4-9BCC-F28976EA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Laboratory and Staff working on </a:t>
            </a:r>
            <a:r>
              <a:rPr lang="en-US" dirty="0" err="1"/>
              <a:t>OpenPipe</a:t>
            </a:r>
            <a:endParaRPr lang="en-US" dirty="0"/>
          </a:p>
        </p:txBody>
      </p:sp>
      <p:pic>
        <p:nvPicPr>
          <p:cNvPr id="4" name="Picture 3" descr="A person sitting at a table&#10;&#10;Description automatically generated">
            <a:extLst>
              <a:ext uri="{FF2B5EF4-FFF2-40B4-BE49-F238E27FC236}">
                <a16:creationId xmlns:a16="http://schemas.microsoft.com/office/drawing/2014/main" id="{968565CE-F610-41F5-A1A6-C1C3BB381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899" y="1191884"/>
            <a:ext cx="2477401" cy="3663835"/>
          </a:xfrm>
          <a:prstGeom prst="rect">
            <a:avLst/>
          </a:prstGeom>
        </p:spPr>
      </p:pic>
      <p:pic>
        <p:nvPicPr>
          <p:cNvPr id="6" name="Picture 5" descr="A picture containing room&#10;&#10;Description automatically generated">
            <a:extLst>
              <a:ext uri="{FF2B5EF4-FFF2-40B4-BE49-F238E27FC236}">
                <a16:creationId xmlns:a16="http://schemas.microsoft.com/office/drawing/2014/main" id="{26B3E50B-00C6-49B6-8B8F-BDA0AA12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574" y="2775748"/>
            <a:ext cx="3917917" cy="2202108"/>
          </a:xfrm>
          <a:prstGeom prst="rect">
            <a:avLst/>
          </a:prstGeom>
        </p:spPr>
      </p:pic>
      <p:pic>
        <p:nvPicPr>
          <p:cNvPr id="8" name="Picture 7" descr="A picture containing indoor, table, sitting, man&#10;&#10;Description automatically generated">
            <a:extLst>
              <a:ext uri="{FF2B5EF4-FFF2-40B4-BE49-F238E27FC236}">
                <a16:creationId xmlns:a16="http://schemas.microsoft.com/office/drawing/2014/main" id="{534E021A-D0F8-4B56-9C5E-7167BE78B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017725"/>
            <a:ext cx="3669833" cy="20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6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OpenPipe: </a:t>
            </a:r>
            <a:r>
              <a:rPr lang="en-US" dirty="0"/>
              <a:t>A Federated Production Pipeline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OpenPipe </a:t>
            </a:r>
            <a:r>
              <a:rPr lang="en-US" sz="1600" dirty="0"/>
              <a:t>is an open source </a:t>
            </a:r>
            <a:r>
              <a:rPr lang="en" sz="1600" dirty="0"/>
              <a:t>content management and production solution that supports the delivery of high-resolution content to </a:t>
            </a:r>
            <a:r>
              <a:rPr lang="en-US" sz="1600" dirty="0"/>
              <a:t>remote endpoints on-demand</a:t>
            </a:r>
            <a:r>
              <a:rPr lang="en" sz="1600" dirty="0"/>
              <a:t>. The OpenPipe solution supports both content management and content production using Amazon Web Services and enables distributed human in-the loop content production across multiple locations and sites with integrated time and cost tracking built into the open source solution.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6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OpenPipe</a:t>
            </a:r>
            <a:r>
              <a:rPr lang="en-US" dirty="0"/>
              <a:t> is in development.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140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 Overview</a:t>
            </a:r>
            <a:endParaRPr dirty="0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100" y="810450"/>
            <a:ext cx="6568551" cy="4125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20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0D55-F16E-4215-BFF9-1BF8890B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VR Digital Capture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D4D7C-4E70-4C97-9547-BC4FE29F06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75" y="1771650"/>
            <a:ext cx="36576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FF3269-EDD0-48FE-85F6-9198AF0225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00" y="2050331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40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ADB5-EC3F-4730-85F6-9AAF2D66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Variety of Media Capture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25862-9C58-467C-A1A7-11CA1D86F4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6"/>
          <a:stretch/>
        </p:blipFill>
        <p:spPr>
          <a:xfrm>
            <a:off x="3885476" y="2020490"/>
            <a:ext cx="4019550" cy="2651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F71900-3446-426B-87CA-A0825F87F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975" y="2020490"/>
            <a:ext cx="2620578" cy="259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31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3B21-4D34-49A8-84C8-81642CFA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 Captures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67B2B9-B286-406A-B20F-5F22F683C9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450" y="1771649"/>
            <a:ext cx="3733800" cy="2800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4CDA63-B066-401F-B91C-E9ABF2F8E4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93520" y="2035968"/>
            <a:ext cx="3028950" cy="2271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366D0B-BEE5-4D94-B146-1E086965D6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9898" y="2049992"/>
            <a:ext cx="2962018" cy="222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67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5D651D-AB04-43E5-86A6-F41337EA9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857250"/>
            <a:ext cx="5429250" cy="384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1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Curator’s Interface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E24EEA-F3E5-44DF-B210-70EBDADEAB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75" b="17564"/>
          <a:stretch/>
        </p:blipFill>
        <p:spPr>
          <a:xfrm>
            <a:off x="0" y="1063413"/>
            <a:ext cx="9144000" cy="373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84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–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classify 100s of sets of 136 panoramic stereo image pairs automatically.</a:t>
            </a:r>
          </a:p>
          <a:p>
            <a:r>
              <a:rPr lang="en-US" dirty="0"/>
              <a:t>Need to stitch, tile, and generate multiple 16k+ resolution image sets.</a:t>
            </a:r>
          </a:p>
          <a:p>
            <a:r>
              <a:rPr lang="en-US" dirty="0"/>
              <a:t>Need to launch OpenCV Image analysis jobs with measured and tracked results automatically for 100s of jobs.</a:t>
            </a:r>
          </a:p>
          <a:p>
            <a:r>
              <a:rPr lang="en-US" dirty="0"/>
              <a:t>Need to easily ingest large image capture sets, register, and easily tag with trip details for all images.</a:t>
            </a:r>
          </a:p>
          <a:p>
            <a:r>
              <a:rPr lang="en-US" dirty="0"/>
              <a:t>Need to let human operators edit image sets asynchronously intermixed with automated computation and do so remotely.</a:t>
            </a:r>
          </a:p>
          <a:p>
            <a:r>
              <a:rPr lang="en-US" dirty="0"/>
              <a:t>Need to share any tracked digital asset to Laptop, Desktop, CAVE, or Phone.</a:t>
            </a:r>
          </a:p>
          <a:p>
            <a:r>
              <a:rPr lang="en-US" dirty="0"/>
              <a:t>Need to update digital content on all devices at any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514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–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support Curators in classifying digital art collections.</a:t>
            </a:r>
          </a:p>
          <a:p>
            <a:r>
              <a:rPr lang="en-US" dirty="0"/>
              <a:t>Need to support Search across multiple Open Art Museums and Databases.</a:t>
            </a:r>
          </a:p>
          <a:p>
            <a:r>
              <a:rPr lang="en-US" dirty="0"/>
              <a:t>Need to support adding in free-form </a:t>
            </a:r>
            <a:r>
              <a:rPr lang="en-US" dirty="0" err="1"/>
              <a:t>MetaData</a:t>
            </a:r>
            <a:r>
              <a:rPr lang="en-US" dirty="0"/>
              <a:t> by curators and programs.</a:t>
            </a:r>
          </a:p>
          <a:p>
            <a:r>
              <a:rPr lang="en-US" dirty="0"/>
              <a:t>Need to provide external API access to remote User Interface systems.</a:t>
            </a:r>
          </a:p>
          <a:p>
            <a:r>
              <a:rPr lang="en-US" dirty="0"/>
              <a:t>Need to support full Federated Database solutions.</a:t>
            </a:r>
          </a:p>
          <a:p>
            <a:r>
              <a:rPr lang="en-US" dirty="0"/>
              <a:t>Need to support search by text and by image.</a:t>
            </a:r>
          </a:p>
          <a:p>
            <a:r>
              <a:rPr lang="en-US" dirty="0"/>
              <a:t>Need to provide explorer views for rapid image search and exploration.</a:t>
            </a:r>
          </a:p>
          <a:p>
            <a:r>
              <a:rPr lang="en-US" dirty="0"/>
              <a:t>Need to provide simple mechanism for generating different interaction layouts and interfaces.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59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–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digital content should be available via URI to any device.</a:t>
            </a:r>
          </a:p>
          <a:p>
            <a:r>
              <a:rPr lang="en-US" dirty="0"/>
              <a:t>All digital content should be human readable including exchange files, configuration files, and URI results, except true media files.</a:t>
            </a:r>
          </a:p>
          <a:p>
            <a:r>
              <a:rPr lang="en-US" dirty="0"/>
              <a:t>All assets can have any number of tags.</a:t>
            </a:r>
          </a:p>
          <a:p>
            <a:r>
              <a:rPr lang="en-US" dirty="0"/>
              <a:t>All values associated with keys are first order lists.</a:t>
            </a:r>
          </a:p>
          <a:p>
            <a:r>
              <a:rPr lang="en-US" dirty="0"/>
              <a:t>Should be 2 hours work to add in any new database with an accessible endpoint.</a:t>
            </a:r>
          </a:p>
          <a:p>
            <a:r>
              <a:rPr lang="en-US" dirty="0"/>
              <a:t>System should be open, extensible, efficient, scalable, and documented.</a:t>
            </a:r>
          </a:p>
          <a:p>
            <a:r>
              <a:rPr lang="en-US" dirty="0"/>
              <a:t>System should integrate into other systems with modest effort.</a:t>
            </a:r>
          </a:p>
          <a:p>
            <a:r>
              <a:rPr lang="en-US" dirty="0"/>
              <a:t>System should cleanly separate interfaces from code.</a:t>
            </a:r>
          </a:p>
          <a:p>
            <a:r>
              <a:rPr lang="en-US" dirty="0"/>
              <a:t>We have a budget of $15,000, 4 undergrads and 2 grad students.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6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– and lots of Ponies!</a:t>
            </a:r>
          </a:p>
        </p:txBody>
      </p:sp>
      <p:pic>
        <p:nvPicPr>
          <p:cNvPr id="1026" name="Picture 2" descr="Image result for my little pony">
            <a:extLst>
              <a:ext uri="{FF2B5EF4-FFF2-40B4-BE49-F238E27FC236}">
                <a16:creationId xmlns:a16="http://schemas.microsoft.com/office/drawing/2014/main" id="{08C3BC67-4634-4745-B7D6-41EE1D628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233" y="1017725"/>
            <a:ext cx="6263667" cy="398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79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140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100" y="810450"/>
            <a:ext cx="6568551" cy="4125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7696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Software Stack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 – Data Driven Documents for layouts and interfacing.</a:t>
            </a:r>
          </a:p>
          <a:p>
            <a:r>
              <a:rPr lang="en-US" dirty="0"/>
              <a:t>Angular – for web interface development</a:t>
            </a:r>
          </a:p>
          <a:p>
            <a:r>
              <a:rPr lang="en-US" dirty="0"/>
              <a:t>Python – for all Web Server, Compute, and Glue code for the system.</a:t>
            </a:r>
          </a:p>
          <a:p>
            <a:r>
              <a:rPr lang="en-US" dirty="0" err="1"/>
              <a:t>Javascript</a:t>
            </a:r>
            <a:r>
              <a:rPr lang="en-US" dirty="0"/>
              <a:t> – for end user web pages.</a:t>
            </a:r>
          </a:p>
          <a:p>
            <a:r>
              <a:rPr lang="en-US" dirty="0" err="1"/>
              <a:t>SQLAlchemy</a:t>
            </a:r>
            <a:r>
              <a:rPr lang="en-US" dirty="0"/>
              <a:t> – for ORM access to the database.</a:t>
            </a:r>
          </a:p>
          <a:p>
            <a:r>
              <a:rPr lang="en-US" dirty="0"/>
              <a:t>SQL – for ease of using already existing large scale database solutions.</a:t>
            </a:r>
          </a:p>
          <a:p>
            <a:r>
              <a:rPr lang="en-US" dirty="0"/>
              <a:t>AWS RDS, EC2, S3 – highly scalable..</a:t>
            </a:r>
          </a:p>
          <a:p>
            <a:r>
              <a:rPr lang="en-US" dirty="0" err="1"/>
              <a:t>Snakemake</a:t>
            </a:r>
            <a:r>
              <a:rPr lang="en-US" dirty="0"/>
              <a:t> – launching compute jobs across campus clusters.</a:t>
            </a:r>
          </a:p>
          <a:p>
            <a:r>
              <a:rPr lang="en-US" dirty="0"/>
              <a:t>Apache </a:t>
            </a:r>
            <a:r>
              <a:rPr lang="en-US" dirty="0" err="1"/>
              <a:t>Webserver</a:t>
            </a:r>
            <a:r>
              <a:rPr lang="en-US" dirty="0"/>
              <a:t> – open source and available for our federated front end.</a:t>
            </a:r>
          </a:p>
          <a:p>
            <a:r>
              <a:rPr lang="en-US" dirty="0"/>
              <a:t>Campus R2 cluster and 25TB of storage as well.</a:t>
            </a:r>
          </a:p>
        </p:txBody>
      </p:sp>
    </p:spTree>
    <p:extLst>
      <p:ext uri="{BB962C8B-B14F-4D97-AF65-F5344CB8AC3E}">
        <p14:creationId xmlns:p14="http://schemas.microsoft.com/office/powerpoint/2010/main" val="3204860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108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OpenPipe Architecture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262" y="867700"/>
            <a:ext cx="7239477" cy="4162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762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12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Asset Management Entity- Relation Diagram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338" y="696725"/>
            <a:ext cx="7115312" cy="44467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63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Size = modest but not small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Panoramic Image collection = 1.5 Gigabytes. </a:t>
            </a:r>
          </a:p>
          <a:p>
            <a:r>
              <a:rPr lang="en-US" dirty="0"/>
              <a:t>Croatia trip generated 300 Gigabytes of raw data.</a:t>
            </a:r>
          </a:p>
          <a:p>
            <a:r>
              <a:rPr lang="en-US" dirty="0"/>
              <a:t>We have 11 trips worth of data for 3.3 Terabytes of past data.</a:t>
            </a:r>
          </a:p>
          <a:p>
            <a:r>
              <a:rPr lang="en-US" dirty="0"/>
              <a:t>One class of 15 students would generate 4.5 Terabytes.</a:t>
            </a:r>
          </a:p>
          <a:p>
            <a:r>
              <a:rPr lang="en-US" dirty="0"/>
              <a:t>This falls into the ‘medium scale’ dataset size.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31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Scale and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core design choice was to focus on designing a solution that can rapidly scale to support many users and operators working both locally and remotely with large data sets quickly and easily.</a:t>
            </a:r>
          </a:p>
          <a:p>
            <a:r>
              <a:rPr lang="en-US" dirty="0"/>
              <a:t>Example 1: content collection team in Croatia uploads the days capture for operators on campus to process over night so they can review the next day.</a:t>
            </a:r>
          </a:p>
          <a:p>
            <a:r>
              <a:rPr lang="en-US" dirty="0"/>
              <a:t>Example 2: A new collection of 300 16K panoramas have been stitched and tiled and are ready to be shared with all end users.</a:t>
            </a:r>
          </a:p>
          <a:p>
            <a:r>
              <a:rPr lang="en-US" dirty="0"/>
              <a:t>Example 3: A class of 20 art students have been tasked to search and compare various art collections at different online museum collections prepare portfolios to present and discuss as a class assignment.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Philosophy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systems components are designed to be loosely coupled.</a:t>
            </a:r>
          </a:p>
          <a:p>
            <a:r>
              <a:rPr lang="en-US" dirty="0"/>
              <a:t>All system components connect via URI whenever possible.</a:t>
            </a:r>
          </a:p>
          <a:p>
            <a:r>
              <a:rPr lang="en-US" dirty="0"/>
              <a:t>HTTP is the primary protocol for exchange on the system.</a:t>
            </a:r>
          </a:p>
          <a:p>
            <a:r>
              <a:rPr lang="en-US" dirty="0"/>
              <a:t>JSON files are used to exchange all command and control data.</a:t>
            </a:r>
          </a:p>
          <a:p>
            <a:r>
              <a:rPr lang="en-US" dirty="0"/>
              <a:t>All media is accessible via a URI reference.</a:t>
            </a:r>
          </a:p>
          <a:p>
            <a:r>
              <a:rPr lang="en-US" dirty="0"/>
              <a:t>Apps use URIs for configuration files.</a:t>
            </a:r>
          </a:p>
          <a:p>
            <a:r>
              <a:rPr lang="en-US" dirty="0"/>
              <a:t>Compute is offloaded from users to servers whenever possible.</a:t>
            </a:r>
          </a:p>
          <a:p>
            <a:r>
              <a:rPr lang="en-US" dirty="0"/>
              <a:t>Federate resources whenever possible: </a:t>
            </a:r>
          </a:p>
          <a:p>
            <a:pPr lvl="1"/>
            <a:r>
              <a:rPr lang="en-US" dirty="0"/>
              <a:t>Ex: Cleveland Museum of Art provides online collections of Art.</a:t>
            </a:r>
          </a:p>
          <a:p>
            <a:pPr lvl="1"/>
            <a:r>
              <a:rPr lang="en-US" dirty="0"/>
              <a:t>Ex: Getty provides services that maintain canonical lists of Artists.</a:t>
            </a:r>
          </a:p>
        </p:txBody>
      </p:sp>
    </p:spTree>
    <p:extLst>
      <p:ext uri="{BB962C8B-B14F-4D97-AF65-F5344CB8AC3E}">
        <p14:creationId xmlns:p14="http://schemas.microsoft.com/office/powerpoint/2010/main" val="3645001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0563-CC61-41C1-9169-85B7ABE0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Handle Federation?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52844" y="1241367"/>
            <a:ext cx="2966256" cy="2266604"/>
            <a:chOff x="5338159" y="1241367"/>
            <a:chExt cx="2966256" cy="22666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4DD093-24CC-4BB9-B5FC-BA5B5E678071}"/>
                </a:ext>
              </a:extLst>
            </p:cNvPr>
            <p:cNvSpPr/>
            <p:nvPr/>
          </p:nvSpPr>
          <p:spPr>
            <a:xfrm>
              <a:off x="5338159" y="1241367"/>
              <a:ext cx="2966256" cy="22666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333035-6A92-40E1-8621-A5DE949965FD}"/>
                </a:ext>
              </a:extLst>
            </p:cNvPr>
            <p:cNvSpPr txBox="1"/>
            <p:nvPr/>
          </p:nvSpPr>
          <p:spPr>
            <a:xfrm>
              <a:off x="5338159" y="1340032"/>
              <a:ext cx="17475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External Museum X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8DE00F-D515-4FE0-ABE0-9DF5A5B6D039}"/>
                </a:ext>
              </a:extLst>
            </p:cNvPr>
            <p:cNvSpPr txBox="1"/>
            <p:nvPr/>
          </p:nvSpPr>
          <p:spPr>
            <a:xfrm>
              <a:off x="5764879" y="1634647"/>
              <a:ext cx="18085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List Assets Endpoint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63B1DD-3A04-4E1B-BBFE-DD6085E0B7D4}"/>
                </a:ext>
              </a:extLst>
            </p:cNvPr>
            <p:cNvSpPr txBox="1"/>
            <p:nvPr/>
          </p:nvSpPr>
          <p:spPr>
            <a:xfrm>
              <a:off x="5782019" y="1915423"/>
              <a:ext cx="20970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Search Assets Endpoint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8D0E64-B682-41BC-BFFC-1F1AA54022CC}"/>
                </a:ext>
              </a:extLst>
            </p:cNvPr>
            <p:cNvSpPr txBox="1"/>
            <p:nvPr/>
          </p:nvSpPr>
          <p:spPr>
            <a:xfrm>
              <a:off x="5785307" y="2196199"/>
              <a:ext cx="17283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Get Asset Endpoint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49B8BD-C067-4CF8-94DD-351FE8BD2216}"/>
                </a:ext>
              </a:extLst>
            </p:cNvPr>
            <p:cNvSpPr txBox="1"/>
            <p:nvPr/>
          </p:nvSpPr>
          <p:spPr>
            <a:xfrm>
              <a:off x="5764879" y="2462591"/>
              <a:ext cx="25234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Get Asset Metadata Endpoint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D51C6C-D5D6-417B-B018-F84DC936A92A}"/>
              </a:ext>
            </a:extLst>
          </p:cNvPr>
          <p:cNvGrpSpPr/>
          <p:nvPr/>
        </p:nvGrpSpPr>
        <p:grpSpPr>
          <a:xfrm>
            <a:off x="258507" y="1362010"/>
            <a:ext cx="2596481" cy="1399784"/>
            <a:chOff x="487658" y="1576172"/>
            <a:chExt cx="2596481" cy="139978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8297D2-09DC-403C-9345-B9CA1CF5EB9A}"/>
                </a:ext>
              </a:extLst>
            </p:cNvPr>
            <p:cNvSpPr/>
            <p:nvPr/>
          </p:nvSpPr>
          <p:spPr>
            <a:xfrm>
              <a:off x="487658" y="1583683"/>
              <a:ext cx="2509020" cy="1392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B0839A-37E0-495E-8584-B744B267983F}"/>
                </a:ext>
              </a:extLst>
            </p:cNvPr>
            <p:cNvSpPr txBox="1"/>
            <p:nvPr/>
          </p:nvSpPr>
          <p:spPr>
            <a:xfrm>
              <a:off x="515389" y="1576172"/>
              <a:ext cx="18085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OpenPipe</a:t>
              </a:r>
              <a:r>
                <a:rPr lang="en-US" dirty="0"/>
                <a:t> Asset List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56BD69-F43C-473E-899E-339B135C9EBD}"/>
                </a:ext>
              </a:extLst>
            </p:cNvPr>
            <p:cNvSpPr txBox="1"/>
            <p:nvPr/>
          </p:nvSpPr>
          <p:spPr>
            <a:xfrm>
              <a:off x="575119" y="1883949"/>
              <a:ext cx="2509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Asset  | Museum X | Asset ID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263270-10ED-487C-8BFE-7B4D3FBF2D95}"/>
                </a:ext>
              </a:extLst>
            </p:cNvPr>
            <p:cNvSpPr txBox="1"/>
            <p:nvPr/>
          </p:nvSpPr>
          <p:spPr>
            <a:xfrm>
              <a:off x="569576" y="2194292"/>
              <a:ext cx="2509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Asset  | Museum X | Asset ID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34B75D-9F64-4D5A-BC59-12B0938262E5}"/>
                </a:ext>
              </a:extLst>
            </p:cNvPr>
            <p:cNvSpPr txBox="1"/>
            <p:nvPr/>
          </p:nvSpPr>
          <p:spPr>
            <a:xfrm>
              <a:off x="569576" y="2449907"/>
              <a:ext cx="2249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Asset  | Internal | Asset ID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FD74056-AF25-47B0-9E9A-2858739567A0}"/>
              </a:ext>
            </a:extLst>
          </p:cNvPr>
          <p:cNvSpPr/>
          <p:nvPr/>
        </p:nvSpPr>
        <p:spPr>
          <a:xfrm>
            <a:off x="3047707" y="2540223"/>
            <a:ext cx="2001370" cy="17205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31448-5EDA-4786-AB20-830F4B57DBEE}"/>
              </a:ext>
            </a:extLst>
          </p:cNvPr>
          <p:cNvSpPr txBox="1"/>
          <p:nvPr/>
        </p:nvSpPr>
        <p:spPr>
          <a:xfrm>
            <a:off x="3085140" y="2564772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for Museum 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4A5CA4-B194-4903-88C4-461D3C7513F4}"/>
              </a:ext>
            </a:extLst>
          </p:cNvPr>
          <p:cNvSpPr txBox="1"/>
          <p:nvPr/>
        </p:nvSpPr>
        <p:spPr>
          <a:xfrm>
            <a:off x="3402598" y="2875791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Assets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3B92CD-0475-4CBC-A854-477A0AD892F0}"/>
              </a:ext>
            </a:extLst>
          </p:cNvPr>
          <p:cNvSpPr txBox="1"/>
          <p:nvPr/>
        </p:nvSpPr>
        <p:spPr>
          <a:xfrm>
            <a:off x="3391749" y="3132676"/>
            <a:ext cx="1340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Search Assets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119D6-DA9E-4EA4-B60F-0CE927D03A1B}"/>
              </a:ext>
            </a:extLst>
          </p:cNvPr>
          <p:cNvSpPr txBox="1"/>
          <p:nvPr/>
        </p:nvSpPr>
        <p:spPr>
          <a:xfrm>
            <a:off x="3391749" y="3438954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Asset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D800BA-56C9-4776-B616-0934D5994920}"/>
              </a:ext>
            </a:extLst>
          </p:cNvPr>
          <p:cNvSpPr txBox="1"/>
          <p:nvPr/>
        </p:nvSpPr>
        <p:spPr>
          <a:xfrm>
            <a:off x="3402598" y="3760950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Metadata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BA231-9C4D-4EFD-917F-8D29FE22464A}"/>
              </a:ext>
            </a:extLst>
          </p:cNvPr>
          <p:cNvSpPr txBox="1"/>
          <p:nvPr/>
        </p:nvSpPr>
        <p:spPr>
          <a:xfrm>
            <a:off x="6428192" y="4436865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OpenAccess</a:t>
            </a:r>
            <a:r>
              <a:rPr lang="en-US" dirty="0"/>
              <a:t> Endpoints</a:t>
            </a:r>
          </a:p>
          <a:p>
            <a:r>
              <a:rPr lang="en-US" dirty="0"/>
              <a:t>Working on SPARQL Endpoints</a:t>
            </a:r>
          </a:p>
        </p:txBody>
      </p:sp>
      <p:cxnSp>
        <p:nvCxnSpPr>
          <p:cNvPr id="26" name="Elbow Connector 25"/>
          <p:cNvCxnSpPr>
            <a:stCxn id="11" idx="3"/>
            <a:endCxn id="18" idx="1"/>
          </p:cNvCxnSpPr>
          <p:nvPr/>
        </p:nvCxnSpPr>
        <p:spPr>
          <a:xfrm>
            <a:off x="2767527" y="2065658"/>
            <a:ext cx="280180" cy="133486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5" idx="1"/>
            <a:endCxn id="18" idx="3"/>
          </p:cNvCxnSpPr>
          <p:nvPr/>
        </p:nvCxnSpPr>
        <p:spPr>
          <a:xfrm rot="10800000" flipV="1">
            <a:off x="5049078" y="2374669"/>
            <a:ext cx="503767" cy="102585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366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0563-CC61-41C1-9169-85B7ABE0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Handle Data Movement?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C0A502-F1F8-4830-8D29-78BC2E14A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Ingest Data Into System</a:t>
            </a:r>
          </a:p>
          <a:p>
            <a:endParaRPr lang="en-US" b="1" dirty="0"/>
          </a:p>
          <a:p>
            <a:r>
              <a:rPr lang="en-US" dirty="0"/>
              <a:t>For new ingests the system generates a new folder with a unique identifier.</a:t>
            </a:r>
          </a:p>
          <a:p>
            <a:endParaRPr lang="en-US" dirty="0"/>
          </a:p>
          <a:p>
            <a:r>
              <a:rPr lang="en-US" dirty="0"/>
              <a:t>Python script uploads to this folder via available protocols:</a:t>
            </a:r>
          </a:p>
          <a:p>
            <a:pPr lvl="1"/>
            <a:r>
              <a:rPr lang="en-US" dirty="0"/>
              <a:t>HTTP: if file less than 200 Megabytes.</a:t>
            </a:r>
          </a:p>
          <a:p>
            <a:pPr lvl="1"/>
            <a:r>
              <a:rPr lang="en-US" dirty="0" err="1"/>
              <a:t>sFTP</a:t>
            </a:r>
            <a:r>
              <a:rPr lang="en-US" dirty="0"/>
              <a:t>: for many files.</a:t>
            </a:r>
          </a:p>
          <a:p>
            <a:pPr lvl="1"/>
            <a:r>
              <a:rPr lang="en-US" dirty="0"/>
              <a:t>Globus: for files above 1 TB.</a:t>
            </a:r>
          </a:p>
          <a:p>
            <a:pPr lvl="1"/>
            <a:r>
              <a:rPr lang="en-US" dirty="0"/>
              <a:t>CP for LAN workstations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1522EF-837B-4070-938B-B11D0FC8745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Extract Data From the System</a:t>
            </a:r>
          </a:p>
          <a:p>
            <a:endParaRPr lang="en-US" dirty="0"/>
          </a:p>
          <a:p>
            <a:r>
              <a:rPr lang="en-US" dirty="0"/>
              <a:t>We Never Delete Assets</a:t>
            </a:r>
          </a:p>
          <a:p>
            <a:endParaRPr lang="en-US" dirty="0"/>
          </a:p>
          <a:p>
            <a:r>
              <a:rPr lang="en-US" dirty="0"/>
              <a:t>Move data on attached storage with CP.</a:t>
            </a:r>
          </a:p>
          <a:p>
            <a:pPr lvl="1"/>
            <a:r>
              <a:rPr lang="en-US" dirty="0"/>
              <a:t>EG on an EC2 Node attached to </a:t>
            </a:r>
            <a:r>
              <a:rPr lang="en-US" dirty="0" err="1"/>
              <a:t>filestore</a:t>
            </a:r>
            <a:r>
              <a:rPr lang="en-US" dirty="0"/>
              <a:t>.</a:t>
            </a:r>
          </a:p>
          <a:p>
            <a:r>
              <a:rPr lang="en-US" dirty="0"/>
              <a:t>Transfer data out using HTTP.</a:t>
            </a:r>
          </a:p>
          <a:p>
            <a:endParaRPr lang="en-US" dirty="0"/>
          </a:p>
          <a:p>
            <a:r>
              <a:rPr lang="en-US" dirty="0"/>
              <a:t>For files larger than 1 TB we can use Globus.  That becomes manual.</a:t>
            </a:r>
          </a:p>
          <a:p>
            <a:r>
              <a:rPr lang="en-US" dirty="0"/>
              <a:t>Checkout is separate action.</a:t>
            </a:r>
          </a:p>
          <a:p>
            <a:r>
              <a:rPr lang="en-US" dirty="0"/>
              <a:t>We don’t currently support versioning.</a:t>
            </a:r>
          </a:p>
        </p:txBody>
      </p:sp>
    </p:spTree>
    <p:extLst>
      <p:ext uri="{BB962C8B-B14F-4D97-AF65-F5344CB8AC3E}">
        <p14:creationId xmlns:p14="http://schemas.microsoft.com/office/powerpoint/2010/main" val="1556499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0563-CC61-41C1-9169-85B7ABE0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ED592-F38E-4727-ADDA-365C76E3D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Data is installed in system the goals is to do all compute on servers.</a:t>
            </a:r>
          </a:p>
          <a:p>
            <a:endParaRPr lang="en-US" dirty="0"/>
          </a:p>
          <a:p>
            <a:r>
              <a:rPr lang="en-US" dirty="0"/>
              <a:t>All compute jobs broken into four stages: </a:t>
            </a:r>
          </a:p>
          <a:p>
            <a:pPr lvl="1"/>
            <a:r>
              <a:rPr lang="en-US" dirty="0"/>
              <a:t>Compute reservation.</a:t>
            </a:r>
          </a:p>
          <a:p>
            <a:pPr lvl="1"/>
            <a:r>
              <a:rPr lang="en-US" dirty="0"/>
              <a:t>Data Movement</a:t>
            </a:r>
          </a:p>
          <a:p>
            <a:pPr lvl="1"/>
            <a:r>
              <a:rPr lang="en-US" dirty="0"/>
              <a:t>Run Compute</a:t>
            </a:r>
          </a:p>
          <a:p>
            <a:pPr lvl="1"/>
            <a:r>
              <a:rPr lang="en-US" dirty="0"/>
              <a:t>Data retrieval</a:t>
            </a:r>
          </a:p>
          <a:p>
            <a:r>
              <a:rPr lang="en-US" dirty="0"/>
              <a:t>Use Tools like </a:t>
            </a:r>
            <a:r>
              <a:rPr lang="en-US" dirty="0" err="1"/>
              <a:t>Snakemake</a:t>
            </a:r>
            <a:r>
              <a:rPr lang="en-US" dirty="0"/>
              <a:t> and/or APST.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73808-F102-49D0-AE51-9BB74C0E732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Human in the Loop?</a:t>
            </a:r>
          </a:p>
          <a:p>
            <a:pPr lvl="1"/>
            <a:r>
              <a:rPr lang="en-US" dirty="0"/>
              <a:t>Viewed as producing new data every time.</a:t>
            </a:r>
          </a:p>
          <a:p>
            <a:pPr lvl="1"/>
            <a:r>
              <a:rPr lang="en-US" dirty="0"/>
              <a:t>Extract data sets from system.</a:t>
            </a:r>
          </a:p>
          <a:p>
            <a:pPr lvl="1"/>
            <a:r>
              <a:rPr lang="en-US" dirty="0"/>
              <a:t>Use an editing tool like </a:t>
            </a:r>
            <a:r>
              <a:rPr lang="en-US" dirty="0" err="1"/>
              <a:t>PtGui</a:t>
            </a:r>
            <a:r>
              <a:rPr lang="en-US" dirty="0"/>
              <a:t> or Photoshop.</a:t>
            </a:r>
          </a:p>
          <a:p>
            <a:pPr lvl="1"/>
            <a:r>
              <a:rPr lang="en-US" dirty="0"/>
              <a:t>The result is ingested as a new asset into the system.</a:t>
            </a:r>
          </a:p>
          <a:p>
            <a:pPr lvl="1"/>
            <a:r>
              <a:rPr lang="en-US" dirty="0"/>
              <a:t>Metadata is used to track its production path.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43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Integration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F98B6-9168-4A3A-BEA3-62CD4F37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RDS relational Database for DBMS</a:t>
            </a:r>
          </a:p>
          <a:p>
            <a:r>
              <a:rPr lang="en-US" dirty="0"/>
              <a:t>S3 for Web Accessible file storage</a:t>
            </a:r>
          </a:p>
          <a:p>
            <a:r>
              <a:rPr lang="en-US" dirty="0"/>
              <a:t>Lambda for on-demand compute Jobs</a:t>
            </a:r>
          </a:p>
          <a:p>
            <a:r>
              <a:rPr lang="en-US" dirty="0"/>
              <a:t>EC2 Compute clusters for larger compute tasks.</a:t>
            </a:r>
          </a:p>
          <a:p>
            <a:r>
              <a:rPr lang="en-US" dirty="0"/>
              <a:t>Why AWS?</a:t>
            </a:r>
          </a:p>
          <a:p>
            <a:pPr lvl="1"/>
            <a:r>
              <a:rPr lang="en-US" dirty="0"/>
              <a:t>Scales to any demanded size.  Basically unlimited resources.</a:t>
            </a:r>
          </a:p>
          <a:p>
            <a:pPr lvl="1"/>
            <a:r>
              <a:rPr lang="en-US" dirty="0"/>
              <a:t>Teams of thousands of engineers making it better every day.</a:t>
            </a:r>
          </a:p>
          <a:p>
            <a:pPr lvl="1"/>
            <a:r>
              <a:rPr lang="en-US" dirty="0"/>
              <a:t>Available from anywhere globally with support for automated caching.</a:t>
            </a:r>
          </a:p>
          <a:p>
            <a:pPr lvl="1"/>
            <a:r>
              <a:rPr lang="en-US" dirty="0"/>
              <a:t>Tracks costs and usage as a built-in.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969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63B20-7362-4F5D-8D34-D6EB0B2A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Curator’s Interface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E24EEA-F3E5-44DF-B210-70EBDADEAB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75" b="17564"/>
          <a:stretch/>
        </p:blipFill>
        <p:spPr>
          <a:xfrm>
            <a:off x="0" y="1063413"/>
            <a:ext cx="9144000" cy="373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84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AB48-AD7D-4FF9-B19A-7B2E9264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Automated Tiled Panorama Stitching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C7B12-C47F-4377-9699-D2A998A93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2580679"/>
            <a:ext cx="3714750" cy="2089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0921A-61F4-49DA-86F0-4DC9275AF7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58"/>
          <a:stretch/>
        </p:blipFill>
        <p:spPr>
          <a:xfrm>
            <a:off x="1257300" y="1600199"/>
            <a:ext cx="3555124" cy="202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98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AB48-AD7D-4FF9-B19A-7B2E9264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D3 UI Interfaces – drawing from </a:t>
            </a:r>
            <a:r>
              <a:rPr lang="en-US" dirty="0" err="1"/>
              <a:t>OpenPipe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D35EEB-261B-43FF-8215-1FC2BA192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628900"/>
            <a:ext cx="3600450" cy="20252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5A4FCC-A2F8-474F-AF6C-83781F705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592317"/>
            <a:ext cx="3874815" cy="217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94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4CB4-687A-4A99-931B-95CEE12F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  <p:pic>
        <p:nvPicPr>
          <p:cNvPr id="1026" name="Picture 2" descr="Prezzi bridge">
            <a:extLst>
              <a:ext uri="{FF2B5EF4-FFF2-40B4-BE49-F238E27FC236}">
                <a16:creationId xmlns:a16="http://schemas.microsoft.com/office/drawing/2014/main" id="{C28EAD3C-46B9-4128-AD6A-F3E70397B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195" y="1017725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1229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1387</Words>
  <Application>Microsoft Office PowerPoint</Application>
  <PresentationFormat>On-screen Show (16:9)</PresentationFormat>
  <Paragraphs>168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Arial</vt:lpstr>
      <vt:lpstr>Simple Light</vt:lpstr>
      <vt:lpstr>Today’s Modern Art: The Emergence of Technology and Art at Boise State</vt:lpstr>
      <vt:lpstr>Original Concept</vt:lpstr>
      <vt:lpstr>Expected Installation</vt:lpstr>
      <vt:lpstr>PowerPoint Presentation</vt:lpstr>
      <vt:lpstr>PowerPoint Presentation</vt:lpstr>
      <vt:lpstr>PowerPoint Presentation</vt:lpstr>
      <vt:lpstr>PowerPoint Presentation</vt:lpstr>
      <vt:lpstr>School Of Arts</vt:lpstr>
      <vt:lpstr>Department of Computer Science</vt:lpstr>
      <vt:lpstr>Games Internet Mobile Media</vt:lpstr>
      <vt:lpstr>Community Partners</vt:lpstr>
      <vt:lpstr>PowerPoint Presentation</vt:lpstr>
      <vt:lpstr>Open Pipe</vt:lpstr>
      <vt:lpstr>Our Laboratory and Staff working on OpenPipe</vt:lpstr>
      <vt:lpstr>OpenPipe: A Federated Production Pipeline</vt:lpstr>
      <vt:lpstr>Architecture Overview</vt:lpstr>
      <vt:lpstr>VR Digital Capture</vt:lpstr>
      <vt:lpstr>Variety of Media Capture Types</vt:lpstr>
      <vt:lpstr>Art Captures</vt:lpstr>
      <vt:lpstr>PowerPoint Presentation</vt:lpstr>
      <vt:lpstr>Curator’s Interface</vt:lpstr>
      <vt:lpstr>Requirements – </vt:lpstr>
      <vt:lpstr>Requirements – </vt:lpstr>
      <vt:lpstr>Requirements – </vt:lpstr>
      <vt:lpstr>Requirements – and lots of Ponies!</vt:lpstr>
      <vt:lpstr>Overview</vt:lpstr>
      <vt:lpstr>Current Software Stack</vt:lpstr>
      <vt:lpstr>OpenPipe Architecture</vt:lpstr>
      <vt:lpstr>Asset Management Entity- Relation Diagram</vt:lpstr>
      <vt:lpstr>Dataset Size = modest but not small</vt:lpstr>
      <vt:lpstr>Solution Scale and Scope</vt:lpstr>
      <vt:lpstr>Design Philosophy</vt:lpstr>
      <vt:lpstr>How Do We Handle Federation?</vt:lpstr>
      <vt:lpstr>How Do We Handle Data Movement?</vt:lpstr>
      <vt:lpstr>How do we compute?</vt:lpstr>
      <vt:lpstr>AWS Integration</vt:lpstr>
      <vt:lpstr>Curator’s Interface</vt:lpstr>
      <vt:lpstr>Automated Tiled Panorama Stitching</vt:lpstr>
      <vt:lpstr>Early D3 UI Interfaces – drawing from OpenPipe.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Today’s Modern Art: The Emergence of Technology and Art at Boise State</dc:title>
  <dc:creator>smcutchin</dc:creator>
  <cp:lastModifiedBy>Steven Cutchin</cp:lastModifiedBy>
  <cp:revision>32</cp:revision>
  <dcterms:modified xsi:type="dcterms:W3CDTF">2026-10-21T18:26:48Z</dcterms:modified>
</cp:coreProperties>
</file>